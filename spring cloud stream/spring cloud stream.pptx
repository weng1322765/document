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5"/>
  </p:notesMasterIdLst>
  <p:sldIdLst>
    <p:sldId id="256" r:id="rId2"/>
    <p:sldId id="257" r:id="rId3"/>
    <p:sldId id="263" r:id="rId4"/>
    <p:sldId id="262" r:id="rId5"/>
    <p:sldId id="264" r:id="rId6"/>
    <p:sldId id="259" r:id="rId7"/>
    <p:sldId id="260" r:id="rId8"/>
    <p:sldId id="258" r:id="rId9"/>
    <p:sldId id="261"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F815381-CEBA-4163-9FBB-09ADF2F43D33}">
          <p14:sldIdLst>
            <p14:sldId id="256"/>
            <p14:sldId id="257"/>
            <p14:sldId id="263"/>
            <p14:sldId id="262"/>
            <p14:sldId id="264"/>
            <p14:sldId id="259"/>
            <p14:sldId id="260"/>
            <p14:sldId id="258"/>
            <p14:sldId id="261"/>
            <p14:sldId id="265"/>
            <p14:sldId id="266"/>
            <p14:sldId id="267"/>
            <p14:sldId id="268"/>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rthur Weng (CN)" initials="AW(" lastIdx="1" clrIdx="0">
    <p:extLst>
      <p:ext uri="{19B8F6BF-5375-455C-9EA6-DF929625EA0E}">
        <p15:presenceInfo xmlns:p15="http://schemas.microsoft.com/office/powerpoint/2012/main" userId="S::Arthur.Weng@homecredit.cn::01214969-4435-4675-b7a6-ba827f0305f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1" d="100"/>
          <a:sy n="101" d="100"/>
        </p:scale>
        <p:origin x="144" y="1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819A387-C030-4D5B-8B46-702D82BE37E6}"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zh-CN" altLang="en-US"/>
        </a:p>
      </dgm:t>
    </dgm:pt>
    <dgm:pt modelId="{BF4B3994-D7BB-4F5D-B280-30AB29BDDFDC}">
      <dgm:prSet/>
      <dgm:spPr/>
      <dgm:t>
        <a:bodyPr/>
        <a:lstStyle/>
        <a:p>
          <a:r>
            <a:rPr lang="en-US" b="1" dirty="0"/>
            <a:t>Spring Messaging</a:t>
          </a:r>
          <a:endParaRPr lang="zh-CN" b="1" dirty="0"/>
        </a:p>
      </dgm:t>
    </dgm:pt>
    <dgm:pt modelId="{48F12231-A11F-45D5-B2A1-FC06E388445B}" type="parTrans" cxnId="{E109B4CF-7FCB-429C-BC13-451B98005372}">
      <dgm:prSet/>
      <dgm:spPr/>
      <dgm:t>
        <a:bodyPr/>
        <a:lstStyle/>
        <a:p>
          <a:endParaRPr lang="zh-CN" altLang="en-US"/>
        </a:p>
      </dgm:t>
    </dgm:pt>
    <dgm:pt modelId="{3BC7AD73-3BD6-450B-8C43-4D1664CCF2E7}" type="sibTrans" cxnId="{E109B4CF-7FCB-429C-BC13-451B98005372}">
      <dgm:prSet/>
      <dgm:spPr/>
      <dgm:t>
        <a:bodyPr/>
        <a:lstStyle/>
        <a:p>
          <a:endParaRPr lang="zh-CN" altLang="en-US"/>
        </a:p>
      </dgm:t>
    </dgm:pt>
    <dgm:pt modelId="{5A21BE4E-14CE-4774-89D3-AC00358651D3}">
      <dgm:prSet/>
      <dgm:spPr/>
      <dgm:t>
        <a:bodyPr/>
        <a:lstStyle/>
        <a:p>
          <a:r>
            <a:rPr lang="en-US" b="1" i="0" dirty="0"/>
            <a:t>Spring Integration</a:t>
          </a:r>
          <a:endParaRPr lang="zh-CN" dirty="0"/>
        </a:p>
      </dgm:t>
    </dgm:pt>
    <dgm:pt modelId="{3F345FE2-8BC6-4DBA-A9F0-32A941436D78}" type="parTrans" cxnId="{D9486898-0A3B-44D1-B9B7-B77AF2BE2C81}">
      <dgm:prSet/>
      <dgm:spPr/>
      <dgm:t>
        <a:bodyPr/>
        <a:lstStyle/>
        <a:p>
          <a:endParaRPr lang="zh-CN" altLang="en-US"/>
        </a:p>
      </dgm:t>
    </dgm:pt>
    <dgm:pt modelId="{39E16AA4-2864-4CDD-888F-1D0FA0A6B28B}" type="sibTrans" cxnId="{D9486898-0A3B-44D1-B9B7-B77AF2BE2C81}">
      <dgm:prSet/>
      <dgm:spPr/>
      <dgm:t>
        <a:bodyPr/>
        <a:lstStyle/>
        <a:p>
          <a:endParaRPr lang="zh-CN" altLang="en-US"/>
        </a:p>
      </dgm:t>
    </dgm:pt>
    <dgm:pt modelId="{CB693D7C-A5DB-4D10-A2DF-2AD2435396E2}">
      <dgm:prSet/>
      <dgm:spPr/>
      <dgm:t>
        <a:bodyPr/>
        <a:lstStyle/>
        <a:p>
          <a:r>
            <a:rPr lang="en-US" b="1" i="0" dirty="0"/>
            <a:t>Spring Cloud Stream</a:t>
          </a:r>
          <a:endParaRPr lang="zh-CN" dirty="0"/>
        </a:p>
      </dgm:t>
    </dgm:pt>
    <dgm:pt modelId="{211D3E73-D37E-4D0F-BC28-F55254367FAD}" type="parTrans" cxnId="{B5779567-251E-495D-98AA-F6CE2D271894}">
      <dgm:prSet/>
      <dgm:spPr/>
      <dgm:t>
        <a:bodyPr/>
        <a:lstStyle/>
        <a:p>
          <a:endParaRPr lang="zh-CN" altLang="en-US"/>
        </a:p>
      </dgm:t>
    </dgm:pt>
    <dgm:pt modelId="{C3C0DC4E-000D-4CA2-8C0B-4CBBDD00360F}" type="sibTrans" cxnId="{B5779567-251E-495D-98AA-F6CE2D271894}">
      <dgm:prSet/>
      <dgm:spPr/>
      <dgm:t>
        <a:bodyPr/>
        <a:lstStyle/>
        <a:p>
          <a:endParaRPr lang="zh-CN" altLang="en-US"/>
        </a:p>
      </dgm:t>
    </dgm:pt>
    <dgm:pt modelId="{A9F492D1-EB02-47F4-8F9D-2469F250D12F}">
      <dgm:prSet/>
      <dgm:spPr/>
      <dgm:t>
        <a:bodyPr/>
        <a:lstStyle/>
        <a:p>
          <a:r>
            <a:rPr lang="en-US" b="1" i="0" dirty="0"/>
            <a:t>Spring Cloud Bus</a:t>
          </a:r>
          <a:endParaRPr lang="zh-CN" dirty="0"/>
        </a:p>
      </dgm:t>
    </dgm:pt>
    <dgm:pt modelId="{F23B1E77-5006-4979-89A9-5AC30BCAD795}" type="parTrans" cxnId="{685A107A-75E8-4CE3-BC45-6490A233C524}">
      <dgm:prSet/>
      <dgm:spPr/>
      <dgm:t>
        <a:bodyPr/>
        <a:lstStyle/>
        <a:p>
          <a:endParaRPr lang="zh-CN" altLang="en-US"/>
        </a:p>
      </dgm:t>
    </dgm:pt>
    <dgm:pt modelId="{0BE1252D-CC39-4238-943F-CAF3DB3AE346}" type="sibTrans" cxnId="{685A107A-75E8-4CE3-BC45-6490A233C524}">
      <dgm:prSet/>
      <dgm:spPr/>
      <dgm:t>
        <a:bodyPr/>
        <a:lstStyle/>
        <a:p>
          <a:endParaRPr lang="zh-CN" altLang="en-US"/>
        </a:p>
      </dgm:t>
    </dgm:pt>
    <dgm:pt modelId="{980907AF-5FF2-4870-895C-E46CCAB6B500}" type="pres">
      <dgm:prSet presAssocID="{8819A387-C030-4D5B-8B46-702D82BE37E6}" presName="Name0" presStyleCnt="0">
        <dgm:presLayoutVars>
          <dgm:dir/>
          <dgm:resizeHandles val="exact"/>
        </dgm:presLayoutVars>
      </dgm:prSet>
      <dgm:spPr/>
    </dgm:pt>
    <dgm:pt modelId="{E4BE3B36-7A34-42EB-9F1C-0CD1459B5F89}" type="pres">
      <dgm:prSet presAssocID="{BF4B3994-D7BB-4F5D-B280-30AB29BDDFDC}" presName="node" presStyleLbl="node1" presStyleIdx="0" presStyleCnt="4">
        <dgm:presLayoutVars>
          <dgm:bulletEnabled val="1"/>
        </dgm:presLayoutVars>
      </dgm:prSet>
      <dgm:spPr/>
    </dgm:pt>
    <dgm:pt modelId="{B7B5FA7C-A147-4820-81CC-4C86F167581A}" type="pres">
      <dgm:prSet presAssocID="{3BC7AD73-3BD6-450B-8C43-4D1664CCF2E7}" presName="sibTrans" presStyleLbl="sibTrans2D1" presStyleIdx="0" presStyleCnt="3"/>
      <dgm:spPr/>
    </dgm:pt>
    <dgm:pt modelId="{CB5E26ED-3A6C-4253-B193-01314024BF39}" type="pres">
      <dgm:prSet presAssocID="{3BC7AD73-3BD6-450B-8C43-4D1664CCF2E7}" presName="connectorText" presStyleLbl="sibTrans2D1" presStyleIdx="0" presStyleCnt="3"/>
      <dgm:spPr/>
    </dgm:pt>
    <dgm:pt modelId="{ED8BEE07-58CD-4AFE-94D9-6CC9C9BB1CC4}" type="pres">
      <dgm:prSet presAssocID="{5A21BE4E-14CE-4774-89D3-AC00358651D3}" presName="node" presStyleLbl="node1" presStyleIdx="1" presStyleCnt="4">
        <dgm:presLayoutVars>
          <dgm:bulletEnabled val="1"/>
        </dgm:presLayoutVars>
      </dgm:prSet>
      <dgm:spPr/>
    </dgm:pt>
    <dgm:pt modelId="{9D300108-9E32-4966-9504-6A7356BABE5C}" type="pres">
      <dgm:prSet presAssocID="{39E16AA4-2864-4CDD-888F-1D0FA0A6B28B}" presName="sibTrans" presStyleLbl="sibTrans2D1" presStyleIdx="1" presStyleCnt="3"/>
      <dgm:spPr/>
    </dgm:pt>
    <dgm:pt modelId="{15410967-BEB7-4D44-86A5-D24629EC8811}" type="pres">
      <dgm:prSet presAssocID="{39E16AA4-2864-4CDD-888F-1D0FA0A6B28B}" presName="connectorText" presStyleLbl="sibTrans2D1" presStyleIdx="1" presStyleCnt="3"/>
      <dgm:spPr/>
    </dgm:pt>
    <dgm:pt modelId="{03CB3088-9A4A-4AC0-BFA9-B1036C8299CF}" type="pres">
      <dgm:prSet presAssocID="{CB693D7C-A5DB-4D10-A2DF-2AD2435396E2}" presName="node" presStyleLbl="node1" presStyleIdx="2" presStyleCnt="4">
        <dgm:presLayoutVars>
          <dgm:bulletEnabled val="1"/>
        </dgm:presLayoutVars>
      </dgm:prSet>
      <dgm:spPr/>
    </dgm:pt>
    <dgm:pt modelId="{0509FD00-2074-451B-BE21-598AA9963B9D}" type="pres">
      <dgm:prSet presAssocID="{C3C0DC4E-000D-4CA2-8C0B-4CBBDD00360F}" presName="sibTrans" presStyleLbl="sibTrans2D1" presStyleIdx="2" presStyleCnt="3"/>
      <dgm:spPr/>
    </dgm:pt>
    <dgm:pt modelId="{E21EE589-E568-4DD8-B08F-67AC275804E9}" type="pres">
      <dgm:prSet presAssocID="{C3C0DC4E-000D-4CA2-8C0B-4CBBDD00360F}" presName="connectorText" presStyleLbl="sibTrans2D1" presStyleIdx="2" presStyleCnt="3"/>
      <dgm:spPr/>
    </dgm:pt>
    <dgm:pt modelId="{100416D0-7C1A-44D1-9CEB-C981C73FE7C2}" type="pres">
      <dgm:prSet presAssocID="{A9F492D1-EB02-47F4-8F9D-2469F250D12F}" presName="node" presStyleLbl="node1" presStyleIdx="3" presStyleCnt="4">
        <dgm:presLayoutVars>
          <dgm:bulletEnabled val="1"/>
        </dgm:presLayoutVars>
      </dgm:prSet>
      <dgm:spPr/>
    </dgm:pt>
  </dgm:ptLst>
  <dgm:cxnLst>
    <dgm:cxn modelId="{0059120A-6F73-42D2-866C-53763AA3A677}" type="presOf" srcId="{C3C0DC4E-000D-4CA2-8C0B-4CBBDD00360F}" destId="{E21EE589-E568-4DD8-B08F-67AC275804E9}" srcOrd="1" destOrd="0" presId="urn:microsoft.com/office/officeart/2005/8/layout/process1"/>
    <dgm:cxn modelId="{B5779567-251E-495D-98AA-F6CE2D271894}" srcId="{8819A387-C030-4D5B-8B46-702D82BE37E6}" destId="{CB693D7C-A5DB-4D10-A2DF-2AD2435396E2}" srcOrd="2" destOrd="0" parTransId="{211D3E73-D37E-4D0F-BC28-F55254367FAD}" sibTransId="{C3C0DC4E-000D-4CA2-8C0B-4CBBDD00360F}"/>
    <dgm:cxn modelId="{0574E477-7075-4303-931F-5FC0DB0E390E}" type="presOf" srcId="{CB693D7C-A5DB-4D10-A2DF-2AD2435396E2}" destId="{03CB3088-9A4A-4AC0-BFA9-B1036C8299CF}" srcOrd="0" destOrd="0" presId="urn:microsoft.com/office/officeart/2005/8/layout/process1"/>
    <dgm:cxn modelId="{685A107A-75E8-4CE3-BC45-6490A233C524}" srcId="{8819A387-C030-4D5B-8B46-702D82BE37E6}" destId="{A9F492D1-EB02-47F4-8F9D-2469F250D12F}" srcOrd="3" destOrd="0" parTransId="{F23B1E77-5006-4979-89A9-5AC30BCAD795}" sibTransId="{0BE1252D-CC39-4238-943F-CAF3DB3AE346}"/>
    <dgm:cxn modelId="{9912AE7F-CDBC-4955-944E-3CD673A49DBC}" type="presOf" srcId="{5A21BE4E-14CE-4774-89D3-AC00358651D3}" destId="{ED8BEE07-58CD-4AFE-94D9-6CC9C9BB1CC4}" srcOrd="0" destOrd="0" presId="urn:microsoft.com/office/officeart/2005/8/layout/process1"/>
    <dgm:cxn modelId="{840ED782-9F2D-45E4-BE59-4E299F3250F2}" type="presOf" srcId="{A9F492D1-EB02-47F4-8F9D-2469F250D12F}" destId="{100416D0-7C1A-44D1-9CEB-C981C73FE7C2}" srcOrd="0" destOrd="0" presId="urn:microsoft.com/office/officeart/2005/8/layout/process1"/>
    <dgm:cxn modelId="{D9486898-0A3B-44D1-B9B7-B77AF2BE2C81}" srcId="{8819A387-C030-4D5B-8B46-702D82BE37E6}" destId="{5A21BE4E-14CE-4774-89D3-AC00358651D3}" srcOrd="1" destOrd="0" parTransId="{3F345FE2-8BC6-4DBA-A9F0-32A941436D78}" sibTransId="{39E16AA4-2864-4CDD-888F-1D0FA0A6B28B}"/>
    <dgm:cxn modelId="{1AFA279A-9DD5-4CF7-A004-7EFCEA8E55FC}" type="presOf" srcId="{39E16AA4-2864-4CDD-888F-1D0FA0A6B28B}" destId="{15410967-BEB7-4D44-86A5-D24629EC8811}" srcOrd="1" destOrd="0" presId="urn:microsoft.com/office/officeart/2005/8/layout/process1"/>
    <dgm:cxn modelId="{E18F63A1-2E09-4E9B-BCB6-7B829B705DBB}" type="presOf" srcId="{8819A387-C030-4D5B-8B46-702D82BE37E6}" destId="{980907AF-5FF2-4870-895C-E46CCAB6B500}" srcOrd="0" destOrd="0" presId="urn:microsoft.com/office/officeart/2005/8/layout/process1"/>
    <dgm:cxn modelId="{E0BD96A3-EBD3-4260-B50B-19C8AB012151}" type="presOf" srcId="{39E16AA4-2864-4CDD-888F-1D0FA0A6B28B}" destId="{9D300108-9E32-4966-9504-6A7356BABE5C}" srcOrd="0" destOrd="0" presId="urn:microsoft.com/office/officeart/2005/8/layout/process1"/>
    <dgm:cxn modelId="{77312DAE-15DF-4C43-9987-EE86AB8AE43F}" type="presOf" srcId="{C3C0DC4E-000D-4CA2-8C0B-4CBBDD00360F}" destId="{0509FD00-2074-451B-BE21-598AA9963B9D}" srcOrd="0" destOrd="0" presId="urn:microsoft.com/office/officeart/2005/8/layout/process1"/>
    <dgm:cxn modelId="{561C35B1-AB15-4374-A563-1DCDD7E179E4}" type="presOf" srcId="{BF4B3994-D7BB-4F5D-B280-30AB29BDDFDC}" destId="{E4BE3B36-7A34-42EB-9F1C-0CD1459B5F89}" srcOrd="0" destOrd="0" presId="urn:microsoft.com/office/officeart/2005/8/layout/process1"/>
    <dgm:cxn modelId="{7502FAC5-AF0D-4D19-8500-95F8791F3B55}" type="presOf" srcId="{3BC7AD73-3BD6-450B-8C43-4D1664CCF2E7}" destId="{CB5E26ED-3A6C-4253-B193-01314024BF39}" srcOrd="1" destOrd="0" presId="urn:microsoft.com/office/officeart/2005/8/layout/process1"/>
    <dgm:cxn modelId="{E109B4CF-7FCB-429C-BC13-451B98005372}" srcId="{8819A387-C030-4D5B-8B46-702D82BE37E6}" destId="{BF4B3994-D7BB-4F5D-B280-30AB29BDDFDC}" srcOrd="0" destOrd="0" parTransId="{48F12231-A11F-45D5-B2A1-FC06E388445B}" sibTransId="{3BC7AD73-3BD6-450B-8C43-4D1664CCF2E7}"/>
    <dgm:cxn modelId="{EA2E5ADC-FF68-4D2A-B9ED-B229B14D7BD1}" type="presOf" srcId="{3BC7AD73-3BD6-450B-8C43-4D1664CCF2E7}" destId="{B7B5FA7C-A147-4820-81CC-4C86F167581A}" srcOrd="0" destOrd="0" presId="urn:microsoft.com/office/officeart/2005/8/layout/process1"/>
    <dgm:cxn modelId="{E99F3A55-BFE8-4C29-A181-D4A5DB781158}" type="presParOf" srcId="{980907AF-5FF2-4870-895C-E46CCAB6B500}" destId="{E4BE3B36-7A34-42EB-9F1C-0CD1459B5F89}" srcOrd="0" destOrd="0" presId="urn:microsoft.com/office/officeart/2005/8/layout/process1"/>
    <dgm:cxn modelId="{A41BB452-5A81-4953-A43C-D64370FA387B}" type="presParOf" srcId="{980907AF-5FF2-4870-895C-E46CCAB6B500}" destId="{B7B5FA7C-A147-4820-81CC-4C86F167581A}" srcOrd="1" destOrd="0" presId="urn:microsoft.com/office/officeart/2005/8/layout/process1"/>
    <dgm:cxn modelId="{7CB35648-0649-4C4F-A2E9-42C9F9ABFE6E}" type="presParOf" srcId="{B7B5FA7C-A147-4820-81CC-4C86F167581A}" destId="{CB5E26ED-3A6C-4253-B193-01314024BF39}" srcOrd="0" destOrd="0" presId="urn:microsoft.com/office/officeart/2005/8/layout/process1"/>
    <dgm:cxn modelId="{4274002F-02C1-473A-8444-DBBE98A0BB22}" type="presParOf" srcId="{980907AF-5FF2-4870-895C-E46CCAB6B500}" destId="{ED8BEE07-58CD-4AFE-94D9-6CC9C9BB1CC4}" srcOrd="2" destOrd="0" presId="urn:microsoft.com/office/officeart/2005/8/layout/process1"/>
    <dgm:cxn modelId="{570511D6-1779-445F-A2C2-1ACBB60BDCAA}" type="presParOf" srcId="{980907AF-5FF2-4870-895C-E46CCAB6B500}" destId="{9D300108-9E32-4966-9504-6A7356BABE5C}" srcOrd="3" destOrd="0" presId="urn:microsoft.com/office/officeart/2005/8/layout/process1"/>
    <dgm:cxn modelId="{7CFBF8AB-E54C-4654-9D2F-DFBF28AB26B2}" type="presParOf" srcId="{9D300108-9E32-4966-9504-6A7356BABE5C}" destId="{15410967-BEB7-4D44-86A5-D24629EC8811}" srcOrd="0" destOrd="0" presId="urn:microsoft.com/office/officeart/2005/8/layout/process1"/>
    <dgm:cxn modelId="{8D45C9FD-1D59-4716-BFC0-FDB701E29A87}" type="presParOf" srcId="{980907AF-5FF2-4870-895C-E46CCAB6B500}" destId="{03CB3088-9A4A-4AC0-BFA9-B1036C8299CF}" srcOrd="4" destOrd="0" presId="urn:microsoft.com/office/officeart/2005/8/layout/process1"/>
    <dgm:cxn modelId="{44C11A55-586B-4CE9-AC59-77964973BB64}" type="presParOf" srcId="{980907AF-5FF2-4870-895C-E46CCAB6B500}" destId="{0509FD00-2074-451B-BE21-598AA9963B9D}" srcOrd="5" destOrd="0" presId="urn:microsoft.com/office/officeart/2005/8/layout/process1"/>
    <dgm:cxn modelId="{394C7942-9537-4D14-80D9-299175727329}" type="presParOf" srcId="{0509FD00-2074-451B-BE21-598AA9963B9D}" destId="{E21EE589-E568-4DD8-B08F-67AC275804E9}" srcOrd="0" destOrd="0" presId="urn:microsoft.com/office/officeart/2005/8/layout/process1"/>
    <dgm:cxn modelId="{D75D97A1-864B-4325-8E58-B8BCDB5FB30C}" type="presParOf" srcId="{980907AF-5FF2-4870-895C-E46CCAB6B500}" destId="{100416D0-7C1A-44D1-9CEB-C981C73FE7C2}" srcOrd="6"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BE3B36-7A34-42EB-9F1C-0CD1459B5F89}">
      <dsp:nvSpPr>
        <dsp:cNvPr id="0" name=""/>
        <dsp:cNvSpPr/>
      </dsp:nvSpPr>
      <dsp:spPr>
        <a:xfrm>
          <a:off x="4737" y="874444"/>
          <a:ext cx="2071197" cy="124271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b="1" kern="1200" dirty="0"/>
            <a:t>Spring Messaging</a:t>
          </a:r>
          <a:endParaRPr lang="zh-CN" sz="2600" b="1" kern="1200" dirty="0"/>
        </a:p>
      </dsp:txBody>
      <dsp:txXfrm>
        <a:off x="41135" y="910842"/>
        <a:ext cx="1998401" cy="1169922"/>
      </dsp:txXfrm>
    </dsp:sp>
    <dsp:sp modelId="{B7B5FA7C-A147-4820-81CC-4C86F167581A}">
      <dsp:nvSpPr>
        <dsp:cNvPr id="0" name=""/>
        <dsp:cNvSpPr/>
      </dsp:nvSpPr>
      <dsp:spPr>
        <a:xfrm>
          <a:off x="2283054" y="1238975"/>
          <a:ext cx="439093" cy="51365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zh-CN" altLang="en-US" sz="2100" kern="1200"/>
        </a:p>
      </dsp:txBody>
      <dsp:txXfrm>
        <a:off x="2283054" y="1341706"/>
        <a:ext cx="307365" cy="308194"/>
      </dsp:txXfrm>
    </dsp:sp>
    <dsp:sp modelId="{ED8BEE07-58CD-4AFE-94D9-6CC9C9BB1CC4}">
      <dsp:nvSpPr>
        <dsp:cNvPr id="0" name=""/>
        <dsp:cNvSpPr/>
      </dsp:nvSpPr>
      <dsp:spPr>
        <a:xfrm>
          <a:off x="2904413" y="874444"/>
          <a:ext cx="2071197" cy="124271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b="1" i="0" kern="1200" dirty="0"/>
            <a:t>Spring Integration</a:t>
          </a:r>
          <a:endParaRPr lang="zh-CN" sz="2600" kern="1200" dirty="0"/>
        </a:p>
      </dsp:txBody>
      <dsp:txXfrm>
        <a:off x="2940811" y="910842"/>
        <a:ext cx="1998401" cy="1169922"/>
      </dsp:txXfrm>
    </dsp:sp>
    <dsp:sp modelId="{9D300108-9E32-4966-9504-6A7356BABE5C}">
      <dsp:nvSpPr>
        <dsp:cNvPr id="0" name=""/>
        <dsp:cNvSpPr/>
      </dsp:nvSpPr>
      <dsp:spPr>
        <a:xfrm>
          <a:off x="5182730" y="1238975"/>
          <a:ext cx="439093" cy="51365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zh-CN" altLang="en-US" sz="2100" kern="1200"/>
        </a:p>
      </dsp:txBody>
      <dsp:txXfrm>
        <a:off x="5182730" y="1341706"/>
        <a:ext cx="307365" cy="308194"/>
      </dsp:txXfrm>
    </dsp:sp>
    <dsp:sp modelId="{03CB3088-9A4A-4AC0-BFA9-B1036C8299CF}">
      <dsp:nvSpPr>
        <dsp:cNvPr id="0" name=""/>
        <dsp:cNvSpPr/>
      </dsp:nvSpPr>
      <dsp:spPr>
        <a:xfrm>
          <a:off x="5804089" y="874444"/>
          <a:ext cx="2071197" cy="124271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b="1" i="0" kern="1200" dirty="0"/>
            <a:t>Spring Cloud Stream</a:t>
          </a:r>
          <a:endParaRPr lang="zh-CN" sz="2600" kern="1200" dirty="0"/>
        </a:p>
      </dsp:txBody>
      <dsp:txXfrm>
        <a:off x="5840487" y="910842"/>
        <a:ext cx="1998401" cy="1169922"/>
      </dsp:txXfrm>
    </dsp:sp>
    <dsp:sp modelId="{0509FD00-2074-451B-BE21-598AA9963B9D}">
      <dsp:nvSpPr>
        <dsp:cNvPr id="0" name=""/>
        <dsp:cNvSpPr/>
      </dsp:nvSpPr>
      <dsp:spPr>
        <a:xfrm>
          <a:off x="8082407" y="1238975"/>
          <a:ext cx="439093" cy="51365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zh-CN" altLang="en-US" sz="2100" kern="1200"/>
        </a:p>
      </dsp:txBody>
      <dsp:txXfrm>
        <a:off x="8082407" y="1341706"/>
        <a:ext cx="307365" cy="308194"/>
      </dsp:txXfrm>
    </dsp:sp>
    <dsp:sp modelId="{100416D0-7C1A-44D1-9CEB-C981C73FE7C2}">
      <dsp:nvSpPr>
        <dsp:cNvPr id="0" name=""/>
        <dsp:cNvSpPr/>
      </dsp:nvSpPr>
      <dsp:spPr>
        <a:xfrm>
          <a:off x="8703766" y="874444"/>
          <a:ext cx="2071197" cy="124271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b="1" i="0" kern="1200" dirty="0"/>
            <a:t>Spring Cloud Bus</a:t>
          </a:r>
          <a:endParaRPr lang="zh-CN" sz="2600" kern="1200" dirty="0"/>
        </a:p>
      </dsp:txBody>
      <dsp:txXfrm>
        <a:off x="8740164" y="910842"/>
        <a:ext cx="1998401" cy="1169922"/>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B0BB11-3331-43FA-9EFF-D7A941B7782A}" type="datetimeFigureOut">
              <a:rPr lang="zh-CN" altLang="en-US" smtClean="0"/>
              <a:t>2021/1/12</a:t>
            </a:fld>
            <a:endParaRPr lang="zh-CN"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C5CE14-B9C9-48DB-AD7D-2CC66E393B24}" type="slidenum">
              <a:rPr lang="zh-CN" altLang="en-US" smtClean="0"/>
              <a:t>‹#›</a:t>
            </a:fld>
            <a:endParaRPr lang="zh-CN" altLang="en-US"/>
          </a:p>
        </p:txBody>
      </p:sp>
    </p:spTree>
    <p:extLst>
      <p:ext uri="{BB962C8B-B14F-4D97-AF65-F5344CB8AC3E}">
        <p14:creationId xmlns:p14="http://schemas.microsoft.com/office/powerpoint/2010/main" val="2850924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CAC5CE14-B9C9-48DB-AD7D-2CC66E393B24}" type="slidenum">
              <a:rPr lang="zh-CN" altLang="en-US" smtClean="0"/>
              <a:t>6</a:t>
            </a:fld>
            <a:endParaRPr lang="zh-CN" altLang="en-US"/>
          </a:p>
        </p:txBody>
      </p:sp>
    </p:spTree>
    <p:extLst>
      <p:ext uri="{BB962C8B-B14F-4D97-AF65-F5344CB8AC3E}">
        <p14:creationId xmlns:p14="http://schemas.microsoft.com/office/powerpoint/2010/main" val="42298069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ltLang="zh-CN"/>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a:t>Click to edit Master subtitle style</a:t>
            </a:r>
            <a:endParaRPr lang="en-US" dirty="0"/>
          </a:p>
        </p:txBody>
      </p:sp>
      <p:sp>
        <p:nvSpPr>
          <p:cNvPr id="4" name="Date Placeholder 3"/>
          <p:cNvSpPr>
            <a:spLocks noGrp="1"/>
          </p:cNvSpPr>
          <p:nvPr>
            <p:ph type="dt" sz="half" idx="10"/>
          </p:nvPr>
        </p:nvSpPr>
        <p:spPr/>
        <p:txBody>
          <a:bodyPr/>
          <a:lstStyle/>
          <a:p>
            <a:fld id="{04CB59C5-F9D4-422C-8464-97C5D40C2549}" type="datetimeFigureOut">
              <a:rPr lang="zh-CN" altLang="en-US" smtClean="0"/>
              <a:t>2021/1/12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D0BA756-3B67-4E41-AE2D-6761928217EC}" type="slidenum">
              <a:rPr lang="zh-CN" altLang="en-US" smtClean="0"/>
              <a:t>‹#›</a:t>
            </a:fld>
            <a:endParaRPr lang="zh-CN" altLang="en-US"/>
          </a:p>
        </p:txBody>
      </p:sp>
    </p:spTree>
    <p:extLst>
      <p:ext uri="{BB962C8B-B14F-4D97-AF65-F5344CB8AC3E}">
        <p14:creationId xmlns:p14="http://schemas.microsoft.com/office/powerpoint/2010/main" val="42450701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dirty="0"/>
          </a:p>
        </p:txBody>
      </p:sp>
      <p:sp>
        <p:nvSpPr>
          <p:cNvPr id="3" name="Content Placeholder 2"/>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04CB59C5-F9D4-422C-8464-97C5D40C2549}" type="datetimeFigureOut">
              <a:rPr lang="zh-CN" altLang="en-US" smtClean="0"/>
              <a:t>2021/1/12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D0BA756-3B67-4E41-AE2D-6761928217EC}" type="slidenum">
              <a:rPr lang="zh-CN" altLang="en-US" smtClean="0"/>
              <a:t>‹#›</a:t>
            </a:fld>
            <a:endParaRPr lang="zh-CN" altLang="en-US"/>
          </a:p>
        </p:txBody>
      </p:sp>
    </p:spTree>
    <p:extLst>
      <p:ext uri="{BB962C8B-B14F-4D97-AF65-F5344CB8AC3E}">
        <p14:creationId xmlns:p14="http://schemas.microsoft.com/office/powerpoint/2010/main" val="31164465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ltLang="zh-CN"/>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CN"/>
              <a:t>Click to edit Master text styles</a:t>
            </a:r>
          </a:p>
        </p:txBody>
      </p:sp>
      <p:sp>
        <p:nvSpPr>
          <p:cNvPr id="4" name="Date Placeholder 3"/>
          <p:cNvSpPr>
            <a:spLocks noGrp="1"/>
          </p:cNvSpPr>
          <p:nvPr>
            <p:ph type="dt" sz="half" idx="10"/>
          </p:nvPr>
        </p:nvSpPr>
        <p:spPr/>
        <p:txBody>
          <a:bodyPr/>
          <a:lstStyle/>
          <a:p>
            <a:fld id="{04CB59C5-F9D4-422C-8464-97C5D40C2549}" type="datetimeFigureOut">
              <a:rPr lang="zh-CN" altLang="en-US" smtClean="0"/>
              <a:t>2021/1/12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D0BA756-3B67-4E41-AE2D-6761928217EC}" type="slidenum">
              <a:rPr lang="zh-CN" altLang="en-US" smtClean="0"/>
              <a:t>‹#›</a:t>
            </a:fld>
            <a:endParaRPr lang="zh-CN" altLang="en-US"/>
          </a:p>
        </p:txBody>
      </p:sp>
    </p:spTree>
    <p:extLst>
      <p:ext uri="{BB962C8B-B14F-4D97-AF65-F5344CB8AC3E}">
        <p14:creationId xmlns:p14="http://schemas.microsoft.com/office/powerpoint/2010/main" val="38043225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04CB59C5-F9D4-422C-8464-97C5D40C2549}" type="datetimeFigureOut">
              <a:rPr lang="zh-CN" altLang="en-US" smtClean="0"/>
              <a:t>2021/1/12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6D0BA756-3B67-4E41-AE2D-6761928217EC}" type="slidenum">
              <a:rPr lang="zh-CN" altLang="en-US" smtClean="0"/>
              <a:t>‹#›</a:t>
            </a:fld>
            <a:endParaRPr lang="zh-CN" altLang="en-US"/>
          </a:p>
        </p:txBody>
      </p:sp>
    </p:spTree>
    <p:extLst>
      <p:ext uri="{BB962C8B-B14F-4D97-AF65-F5344CB8AC3E}">
        <p14:creationId xmlns:p14="http://schemas.microsoft.com/office/powerpoint/2010/main" val="11067275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04CB59C5-F9D4-422C-8464-97C5D40C2549}" type="datetimeFigureOut">
              <a:rPr lang="zh-CN" altLang="en-US" smtClean="0"/>
              <a:t>2021/1/12</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6D0BA756-3B67-4E41-AE2D-6761928217EC}" type="slidenum">
              <a:rPr lang="zh-CN" altLang="en-US" smtClean="0"/>
              <a:t>‹#›</a:t>
            </a:fld>
            <a:endParaRPr lang="zh-CN" altLang="en-US"/>
          </a:p>
        </p:txBody>
      </p:sp>
    </p:spTree>
    <p:extLst>
      <p:ext uri="{BB962C8B-B14F-4D97-AF65-F5344CB8AC3E}">
        <p14:creationId xmlns:p14="http://schemas.microsoft.com/office/powerpoint/2010/main" val="26255611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04CB59C5-F9D4-422C-8464-97C5D40C2549}" type="datetimeFigureOut">
              <a:rPr lang="zh-CN" altLang="en-US" smtClean="0"/>
              <a:t>2021/1/12</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6D0BA756-3B67-4E41-AE2D-6761928217EC}" type="slidenum">
              <a:rPr lang="zh-CN" altLang="en-US" smtClean="0"/>
              <a:t>‹#›</a:t>
            </a:fld>
            <a:endParaRPr lang="zh-CN" altLang="en-US"/>
          </a:p>
        </p:txBody>
      </p:sp>
    </p:spTree>
    <p:extLst>
      <p:ext uri="{BB962C8B-B14F-4D97-AF65-F5344CB8AC3E}">
        <p14:creationId xmlns:p14="http://schemas.microsoft.com/office/powerpoint/2010/main" val="1042219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CB59C5-F9D4-422C-8464-97C5D40C2549}" type="datetimeFigureOut">
              <a:rPr lang="zh-CN" altLang="en-US" smtClean="0"/>
              <a:t>2021/1/12</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6D0BA756-3B67-4E41-AE2D-6761928217EC}" type="slidenum">
              <a:rPr lang="zh-CN" altLang="en-US" smtClean="0"/>
              <a:t>‹#›</a:t>
            </a:fld>
            <a:endParaRPr lang="zh-CN" altLang="en-US"/>
          </a:p>
        </p:txBody>
      </p:sp>
    </p:spTree>
    <p:extLst>
      <p:ext uri="{BB962C8B-B14F-4D97-AF65-F5344CB8AC3E}">
        <p14:creationId xmlns:p14="http://schemas.microsoft.com/office/powerpoint/2010/main" val="39156042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04CB59C5-F9D4-422C-8464-97C5D40C2549}" type="datetimeFigureOut">
              <a:rPr lang="zh-CN" altLang="en-US" smtClean="0"/>
              <a:t>2021/1/12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6D0BA756-3B67-4E41-AE2D-6761928217EC}" type="slidenum">
              <a:rPr lang="zh-CN" altLang="en-US" smtClean="0"/>
              <a:t>‹#›</a:t>
            </a:fld>
            <a:endParaRPr lang="zh-CN" altLang="en-US"/>
          </a:p>
        </p:txBody>
      </p:sp>
    </p:spTree>
    <p:extLst>
      <p:ext uri="{BB962C8B-B14F-4D97-AF65-F5344CB8AC3E}">
        <p14:creationId xmlns:p14="http://schemas.microsoft.com/office/powerpoint/2010/main" val="9261993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zh-CN"/>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04CB59C5-F9D4-422C-8464-97C5D40C2549}" type="datetimeFigureOut">
              <a:rPr lang="zh-CN" altLang="en-US" smtClean="0"/>
              <a:t>2021/1/12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6D0BA756-3B67-4E41-AE2D-6761928217EC}" type="slidenum">
              <a:rPr lang="zh-CN" altLang="en-US" smtClean="0"/>
              <a:t>‹#›</a:t>
            </a:fld>
            <a:endParaRPr lang="zh-CN" altLang="en-US"/>
          </a:p>
        </p:txBody>
      </p:sp>
    </p:spTree>
    <p:extLst>
      <p:ext uri="{BB962C8B-B14F-4D97-AF65-F5344CB8AC3E}">
        <p14:creationId xmlns:p14="http://schemas.microsoft.com/office/powerpoint/2010/main" val="13540415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04CB59C5-F9D4-422C-8464-97C5D40C2549}" type="datetimeFigureOut">
              <a:rPr lang="zh-CN" altLang="en-US" smtClean="0"/>
              <a:t>2021/1/12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D0BA756-3B67-4E41-AE2D-6761928217EC}" type="slidenum">
              <a:rPr lang="zh-CN" altLang="en-US" smtClean="0"/>
              <a:t>‹#›</a:t>
            </a:fld>
            <a:endParaRPr lang="zh-CN" altLang="en-US"/>
          </a:p>
        </p:txBody>
      </p:sp>
    </p:spTree>
    <p:extLst>
      <p:ext uri="{BB962C8B-B14F-4D97-AF65-F5344CB8AC3E}">
        <p14:creationId xmlns:p14="http://schemas.microsoft.com/office/powerpoint/2010/main" val="30970350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04CB59C5-F9D4-422C-8464-97C5D40C2549}" type="datetimeFigureOut">
              <a:rPr lang="zh-CN" altLang="en-US" smtClean="0"/>
              <a:t>2021/1/12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D0BA756-3B67-4E41-AE2D-6761928217EC}" type="slidenum">
              <a:rPr lang="zh-CN" altLang="en-US" smtClean="0"/>
              <a:t>‹#›</a:t>
            </a:fld>
            <a:endParaRPr lang="zh-CN" altLang="en-US"/>
          </a:p>
        </p:txBody>
      </p:sp>
    </p:spTree>
    <p:extLst>
      <p:ext uri="{BB962C8B-B14F-4D97-AF65-F5344CB8AC3E}">
        <p14:creationId xmlns:p14="http://schemas.microsoft.com/office/powerpoint/2010/main" val="36844465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CB59C5-F9D4-422C-8464-97C5D40C2549}" type="datetimeFigureOut">
              <a:rPr lang="zh-CN" altLang="en-US" smtClean="0"/>
              <a:t>2021/1/12</a:t>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0BA756-3B67-4E41-AE2D-6761928217EC}" type="slidenum">
              <a:rPr lang="zh-CN" altLang="en-US" smtClean="0"/>
              <a:t>‹#›</a:t>
            </a:fld>
            <a:endParaRPr lang="zh-CN" altLang="en-US"/>
          </a:p>
        </p:txBody>
      </p:sp>
    </p:spTree>
    <p:extLst>
      <p:ext uri="{BB962C8B-B14F-4D97-AF65-F5344CB8AC3E}">
        <p14:creationId xmlns:p14="http://schemas.microsoft.com/office/powerpoint/2010/main" val="17015264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4E1BEB12-92AF-4445-98AD-4C7756E7C9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D0522C2C-7B5C-48A7-A969-03941E5D2E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Freeform 13">
            <a:extLst>
              <a:ext uri="{FF2B5EF4-FFF2-40B4-BE49-F238E27FC236}">
                <a16:creationId xmlns:a16="http://schemas.microsoft.com/office/drawing/2014/main" id="{9C682A1A-5B2D-4111-BBD6-620165633E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69476" y="220196"/>
            <a:ext cx="9422524" cy="6637806"/>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3" name="Oval 12">
            <a:extLst>
              <a:ext uri="{FF2B5EF4-FFF2-40B4-BE49-F238E27FC236}">
                <a16:creationId xmlns:a16="http://schemas.microsoft.com/office/drawing/2014/main" id="{D6EE29F2-D77F-4BD0-A20B-334D316A1C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09800" y="2099696"/>
            <a:ext cx="1942241" cy="188955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5" name="Arc 14">
            <a:extLst>
              <a:ext uri="{FF2B5EF4-FFF2-40B4-BE49-F238E27FC236}">
                <a16:creationId xmlns:a16="http://schemas.microsoft.com/office/drawing/2014/main" id="{22D09ED2-868F-42C6-866E-F92E0CEF31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520172">
            <a:off x="1613162" y="1492572"/>
            <a:ext cx="2987899" cy="2987899"/>
          </a:xfrm>
          <a:prstGeom prst="arc">
            <a:avLst>
              <a:gd name="adj1" fmla="val 14455503"/>
              <a:gd name="adj2" fmla="val 227775"/>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FE6930-370C-4CA4-8341-AE7F4519D703}"/>
              </a:ext>
            </a:extLst>
          </p:cNvPr>
          <p:cNvSpPr>
            <a:spLocks noGrp="1"/>
          </p:cNvSpPr>
          <p:nvPr>
            <p:ph type="ctrTitle"/>
          </p:nvPr>
        </p:nvSpPr>
        <p:spPr>
          <a:xfrm>
            <a:off x="4038600" y="1939159"/>
            <a:ext cx="7644627" cy="2751086"/>
          </a:xfrm>
        </p:spPr>
        <p:txBody>
          <a:bodyPr>
            <a:normAutofit/>
          </a:bodyPr>
          <a:lstStyle/>
          <a:p>
            <a:pPr algn="r"/>
            <a:r>
              <a:rPr lang="en-US" altLang="zh-CN" sz="7200" b="1" dirty="0"/>
              <a:t>Spring Cloud Stream</a:t>
            </a:r>
            <a:endParaRPr lang="zh-CN" altLang="en-US" sz="7200" b="1" dirty="0"/>
          </a:p>
        </p:txBody>
      </p:sp>
    </p:spTree>
    <p:extLst>
      <p:ext uri="{BB962C8B-B14F-4D97-AF65-F5344CB8AC3E}">
        <p14:creationId xmlns:p14="http://schemas.microsoft.com/office/powerpoint/2010/main" val="7257711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6436F7-AB44-48AA-ACB4-96556B92AADC}"/>
              </a:ext>
            </a:extLst>
          </p:cNvPr>
          <p:cNvSpPr>
            <a:spLocks noGrp="1"/>
          </p:cNvSpPr>
          <p:nvPr>
            <p:ph type="title"/>
          </p:nvPr>
        </p:nvSpPr>
        <p:spPr>
          <a:xfrm>
            <a:off x="686834" y="1153572"/>
            <a:ext cx="3200400" cy="4461163"/>
          </a:xfrm>
        </p:spPr>
        <p:txBody>
          <a:bodyPr>
            <a:normAutofit/>
          </a:bodyPr>
          <a:lstStyle/>
          <a:p>
            <a:r>
              <a:rPr lang="en-US" altLang="zh-CN" b="1">
                <a:solidFill>
                  <a:srgbClr val="FFFFFF"/>
                </a:solidFill>
              </a:rPr>
              <a:t>What is SCS</a:t>
            </a:r>
            <a:endParaRPr lang="zh-CN" altLang="en-US" b="1">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48C8DAC1-4FCA-481A-B2F2-B36E0BFC4A40}"/>
              </a:ext>
            </a:extLst>
          </p:cNvPr>
          <p:cNvSpPr>
            <a:spLocks noGrp="1"/>
          </p:cNvSpPr>
          <p:nvPr>
            <p:ph idx="1"/>
          </p:nvPr>
        </p:nvSpPr>
        <p:spPr>
          <a:xfrm>
            <a:off x="4447308" y="591344"/>
            <a:ext cx="6906491" cy="5585619"/>
          </a:xfrm>
        </p:spPr>
        <p:txBody>
          <a:bodyPr anchor="ctr">
            <a:normAutofit/>
          </a:bodyPr>
          <a:lstStyle/>
          <a:p>
            <a:r>
              <a:rPr lang="en-US" altLang="zh-CN" dirty="0"/>
              <a:t>Spring Cloud Stream</a:t>
            </a:r>
            <a:r>
              <a:rPr lang="zh-CN" altLang="en-US" dirty="0"/>
              <a:t>是一个框架，用于构建与共享消息传递系统连接的高度可扩展的事件驱动型微服务。</a:t>
            </a:r>
            <a:endParaRPr lang="en-US" altLang="zh-CN" dirty="0"/>
          </a:p>
          <a:p>
            <a:endParaRPr lang="en-US" altLang="zh-CN" dirty="0"/>
          </a:p>
          <a:p>
            <a:r>
              <a:rPr lang="zh-CN" altLang="en-US" dirty="0"/>
              <a:t>该框架提供了一个灵活的编程模型，该模型建立在已经建立并熟悉的</a:t>
            </a:r>
            <a:r>
              <a:rPr lang="en-US" altLang="zh-CN" dirty="0"/>
              <a:t>Spring</a:t>
            </a:r>
            <a:r>
              <a:rPr lang="zh-CN" altLang="en-US" dirty="0"/>
              <a:t>习惯用法和最佳实践的基础上，包括对持久性</a:t>
            </a:r>
            <a:r>
              <a:rPr lang="en-US" altLang="zh-CN" dirty="0"/>
              <a:t>pub / sub</a:t>
            </a:r>
            <a:r>
              <a:rPr lang="zh-CN" altLang="en-US" dirty="0"/>
              <a:t>语义，使用者组和有状态分区的支持。</a:t>
            </a:r>
          </a:p>
        </p:txBody>
      </p:sp>
    </p:spTree>
    <p:extLst>
      <p:ext uri="{BB962C8B-B14F-4D97-AF65-F5344CB8AC3E}">
        <p14:creationId xmlns:p14="http://schemas.microsoft.com/office/powerpoint/2010/main" val="27471188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8FBBE85-FD0A-4500-AE3A-2EFBAD0432EE}"/>
              </a:ext>
            </a:extLst>
          </p:cNvPr>
          <p:cNvSpPr>
            <a:spLocks noGrp="1"/>
          </p:cNvSpPr>
          <p:nvPr>
            <p:ph type="title"/>
          </p:nvPr>
        </p:nvSpPr>
        <p:spPr>
          <a:xfrm>
            <a:off x="686834" y="1153572"/>
            <a:ext cx="3200400" cy="4461163"/>
          </a:xfrm>
        </p:spPr>
        <p:txBody>
          <a:bodyPr>
            <a:normAutofit/>
          </a:bodyPr>
          <a:lstStyle/>
          <a:p>
            <a:r>
              <a:rPr lang="en-US" altLang="zh-CN" b="1" dirty="0">
                <a:solidFill>
                  <a:srgbClr val="FFFFFF"/>
                </a:solidFill>
              </a:rPr>
              <a:t>Advantage</a:t>
            </a:r>
            <a:endParaRPr lang="zh-CN" altLang="en-US" b="1" dirty="0">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A00DCE79-4F1B-44B2-9E4B-D46D8E828B59}"/>
              </a:ext>
            </a:extLst>
          </p:cNvPr>
          <p:cNvSpPr>
            <a:spLocks noGrp="1"/>
          </p:cNvSpPr>
          <p:nvPr>
            <p:ph idx="1"/>
          </p:nvPr>
        </p:nvSpPr>
        <p:spPr>
          <a:xfrm>
            <a:off x="4447308" y="591344"/>
            <a:ext cx="6906491" cy="5585619"/>
          </a:xfrm>
        </p:spPr>
        <p:txBody>
          <a:bodyPr anchor="ctr">
            <a:normAutofit/>
          </a:bodyPr>
          <a:lstStyle/>
          <a:p>
            <a:r>
              <a:rPr lang="en-US" altLang="zh-CN" dirty="0"/>
              <a:t>1</a:t>
            </a:r>
            <a:r>
              <a:rPr lang="zh-CN" altLang="zh-CN" dirty="0"/>
              <a:t>、</a:t>
            </a:r>
            <a:r>
              <a:rPr lang="zh-CN" altLang="en-US" dirty="0"/>
              <a:t>基于</a:t>
            </a:r>
            <a:r>
              <a:rPr lang="en-US" altLang="zh-CN" dirty="0"/>
              <a:t>Spring</a:t>
            </a:r>
            <a:r>
              <a:rPr lang="zh-CN" altLang="en-US" dirty="0"/>
              <a:t>生态</a:t>
            </a:r>
            <a:endParaRPr lang="en-US" altLang="zh-CN" dirty="0"/>
          </a:p>
          <a:p>
            <a:r>
              <a:rPr lang="en-US" altLang="zh-CN" dirty="0"/>
              <a:t>2</a:t>
            </a:r>
            <a:r>
              <a:rPr lang="zh-CN" altLang="en-US" dirty="0"/>
              <a:t>、和</a:t>
            </a:r>
            <a:r>
              <a:rPr lang="en-US" altLang="zh-CN" dirty="0"/>
              <a:t>MQ</a:t>
            </a:r>
            <a:r>
              <a:rPr lang="zh-CN" altLang="en-US" dirty="0"/>
              <a:t>中间件解耦</a:t>
            </a:r>
            <a:endParaRPr lang="en-US" altLang="zh-CN" dirty="0"/>
          </a:p>
          <a:p>
            <a:r>
              <a:rPr lang="en-US" altLang="zh-CN" dirty="0"/>
              <a:t>3</a:t>
            </a:r>
            <a:r>
              <a:rPr lang="zh-CN" altLang="en-US" dirty="0"/>
              <a:t>、可配置的多线程处理</a:t>
            </a:r>
            <a:endParaRPr lang="zh-CN" altLang="zh-CN" dirty="0"/>
          </a:p>
          <a:p>
            <a:r>
              <a:rPr lang="en-US" altLang="zh-CN" dirty="0"/>
              <a:t>4</a:t>
            </a:r>
            <a:r>
              <a:rPr lang="zh-CN" altLang="zh-CN" dirty="0"/>
              <a:t>、</a:t>
            </a:r>
            <a:r>
              <a:rPr lang="zh-CN" altLang="en-US" dirty="0"/>
              <a:t>错误重试</a:t>
            </a:r>
            <a:r>
              <a:rPr lang="en-US" altLang="zh-CN" dirty="0"/>
              <a:t>(Spring-retry</a:t>
            </a:r>
            <a:r>
              <a:rPr lang="zh-CN" altLang="en-US" dirty="0"/>
              <a:t>默认</a:t>
            </a:r>
            <a:r>
              <a:rPr lang="en-US" altLang="zh-CN" dirty="0"/>
              <a:t>3</a:t>
            </a:r>
            <a:r>
              <a:rPr lang="zh-CN" altLang="en-US" dirty="0"/>
              <a:t>次</a:t>
            </a:r>
            <a:r>
              <a:rPr lang="en-US" altLang="zh-CN" dirty="0"/>
              <a:t>)</a:t>
            </a:r>
            <a:endParaRPr lang="zh-CN" altLang="zh-CN" dirty="0"/>
          </a:p>
          <a:p>
            <a:r>
              <a:rPr lang="en-US" altLang="zh-CN" dirty="0"/>
              <a:t>5</a:t>
            </a:r>
            <a:r>
              <a:rPr lang="zh-CN" altLang="zh-CN" dirty="0"/>
              <a:t>、</a:t>
            </a:r>
            <a:r>
              <a:rPr lang="zh-CN" altLang="en-US" dirty="0"/>
              <a:t>异常处理</a:t>
            </a:r>
            <a:r>
              <a:rPr lang="en-US" altLang="zh-CN" dirty="0"/>
              <a:t>(Dead Letter Queue)</a:t>
            </a:r>
            <a:endParaRPr lang="zh-CN" altLang="zh-CN" dirty="0"/>
          </a:p>
        </p:txBody>
      </p:sp>
    </p:spTree>
    <p:extLst>
      <p:ext uri="{BB962C8B-B14F-4D97-AF65-F5344CB8AC3E}">
        <p14:creationId xmlns:p14="http://schemas.microsoft.com/office/powerpoint/2010/main" val="6424590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96B81-1E1D-4E99-8C1F-AF4A83DB5D69}"/>
              </a:ext>
            </a:extLst>
          </p:cNvPr>
          <p:cNvSpPr>
            <a:spLocks noGrp="1"/>
          </p:cNvSpPr>
          <p:nvPr>
            <p:ph type="title"/>
          </p:nvPr>
        </p:nvSpPr>
        <p:spPr>
          <a:xfrm>
            <a:off x="686834" y="1153572"/>
            <a:ext cx="3200400" cy="4461163"/>
          </a:xfrm>
        </p:spPr>
        <p:txBody>
          <a:bodyPr>
            <a:normAutofit/>
          </a:bodyPr>
          <a:lstStyle/>
          <a:p>
            <a:r>
              <a:rPr lang="zh-CN" altLang="en-US" b="1">
                <a:solidFill>
                  <a:srgbClr val="FFFFFF"/>
                </a:solidFill>
              </a:rPr>
              <a:t>原理</a:t>
            </a:r>
            <a:endParaRPr lang="zh-CN" altLang="en-US" b="1" dirty="0">
              <a:solidFill>
                <a:srgbClr val="FFFFFF"/>
              </a:solidFill>
            </a:endParaRPr>
          </a:p>
        </p:txBody>
      </p:sp>
      <p:graphicFrame>
        <p:nvGraphicFramePr>
          <p:cNvPr id="4" name="Content Placeholder 3">
            <a:extLst>
              <a:ext uri="{FF2B5EF4-FFF2-40B4-BE49-F238E27FC236}">
                <a16:creationId xmlns:a16="http://schemas.microsoft.com/office/drawing/2014/main" id="{48788172-BEAB-4326-87EB-E1A773F1FE45}"/>
              </a:ext>
            </a:extLst>
          </p:cNvPr>
          <p:cNvGraphicFramePr>
            <a:graphicFrameLocks noGrp="1"/>
          </p:cNvGraphicFramePr>
          <p:nvPr>
            <p:ph idx="1"/>
            <p:extLst>
              <p:ext uri="{D42A27DB-BD31-4B8C-83A1-F6EECF244321}">
                <p14:modId xmlns:p14="http://schemas.microsoft.com/office/powerpoint/2010/main" val="3556916208"/>
              </p:ext>
            </p:extLst>
          </p:nvPr>
        </p:nvGraphicFramePr>
        <p:xfrm>
          <a:off x="434269" y="2374772"/>
          <a:ext cx="10779701" cy="29916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5" name="Picture 14" descr="A picture containing logo&#10;&#10;Description automatically generated">
            <a:extLst>
              <a:ext uri="{FF2B5EF4-FFF2-40B4-BE49-F238E27FC236}">
                <a16:creationId xmlns:a16="http://schemas.microsoft.com/office/drawing/2014/main" id="{8B2AD233-3B63-4EF4-9F96-971DD239C44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614130" y="5496630"/>
            <a:ext cx="4498848" cy="1361370"/>
          </a:xfrm>
          <a:prstGeom prst="rect">
            <a:avLst/>
          </a:prstGeom>
        </p:spPr>
      </p:pic>
      <p:sp>
        <p:nvSpPr>
          <p:cNvPr id="19" name="TextBox 18">
            <a:extLst>
              <a:ext uri="{FF2B5EF4-FFF2-40B4-BE49-F238E27FC236}">
                <a16:creationId xmlns:a16="http://schemas.microsoft.com/office/drawing/2014/main" id="{4A26D11C-B6DB-42D1-93DD-78B7434ED4E3}"/>
              </a:ext>
            </a:extLst>
          </p:cNvPr>
          <p:cNvSpPr txBox="1"/>
          <p:nvPr/>
        </p:nvSpPr>
        <p:spPr>
          <a:xfrm>
            <a:off x="434268" y="720551"/>
            <a:ext cx="6699957" cy="707886"/>
          </a:xfrm>
          <a:prstGeom prst="rect">
            <a:avLst/>
          </a:prstGeom>
          <a:noFill/>
        </p:spPr>
        <p:txBody>
          <a:bodyPr wrap="square" rtlCol="0">
            <a:spAutoFit/>
          </a:bodyPr>
          <a:lstStyle/>
          <a:p>
            <a:r>
              <a:rPr lang="en-US" altLang="zh-CN" sz="4000" b="1" i="1" dirty="0"/>
              <a:t>Family Members Relationship</a:t>
            </a:r>
            <a:endParaRPr lang="zh-CN" altLang="en-US" sz="4000" b="1" i="1" dirty="0"/>
          </a:p>
        </p:txBody>
      </p:sp>
    </p:spTree>
    <p:extLst>
      <p:ext uri="{BB962C8B-B14F-4D97-AF65-F5344CB8AC3E}">
        <p14:creationId xmlns:p14="http://schemas.microsoft.com/office/powerpoint/2010/main" val="21615113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0F831ED-2548-4D4C-BE0F-31E27D5A9408}"/>
              </a:ext>
            </a:extLst>
          </p:cNvPr>
          <p:cNvSpPr>
            <a:spLocks noGrp="1"/>
          </p:cNvSpPr>
          <p:nvPr>
            <p:ph type="title"/>
          </p:nvPr>
        </p:nvSpPr>
        <p:spPr>
          <a:xfrm>
            <a:off x="686834" y="1153572"/>
            <a:ext cx="3200400" cy="4461163"/>
          </a:xfrm>
        </p:spPr>
        <p:txBody>
          <a:bodyPr>
            <a:normAutofit/>
          </a:bodyPr>
          <a:lstStyle/>
          <a:p>
            <a:r>
              <a:rPr lang="en-US" altLang="zh-CN" b="1" dirty="0">
                <a:solidFill>
                  <a:srgbClr val="FFFFFF"/>
                </a:solidFill>
              </a:rPr>
              <a:t>How it Works</a:t>
            </a:r>
            <a:endParaRPr lang="zh-CN" altLang="en-US" b="1" dirty="0">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025CB832-6A0B-4BD2-ADE4-92E2869C0E92}"/>
              </a:ext>
            </a:extLst>
          </p:cNvPr>
          <p:cNvSpPr>
            <a:spLocks noGrp="1"/>
          </p:cNvSpPr>
          <p:nvPr>
            <p:ph idx="1"/>
          </p:nvPr>
        </p:nvSpPr>
        <p:spPr>
          <a:xfrm>
            <a:off x="4447308" y="591344"/>
            <a:ext cx="6906491" cy="5585619"/>
          </a:xfrm>
        </p:spPr>
        <p:txBody>
          <a:bodyPr anchor="ctr">
            <a:normAutofit/>
          </a:bodyPr>
          <a:lstStyle/>
          <a:p>
            <a:r>
              <a:rPr lang="en-US" altLang="zh-CN" dirty="0"/>
              <a:t>Spring Messaging</a:t>
            </a:r>
            <a:r>
              <a:rPr lang="zh-CN" altLang="en-US" dirty="0"/>
              <a:t>提供基础的消息模板、管道、转换器、拦截器等</a:t>
            </a:r>
            <a:endParaRPr lang="en-US" altLang="zh-CN" dirty="0"/>
          </a:p>
          <a:p>
            <a:endParaRPr lang="en-US" altLang="zh-CN" dirty="0"/>
          </a:p>
          <a:p>
            <a:r>
              <a:rPr lang="en-US" altLang="zh-CN" dirty="0"/>
              <a:t>Spring Integration</a:t>
            </a:r>
            <a:r>
              <a:rPr lang="zh-CN" altLang="en-US" dirty="0"/>
              <a:t>是对</a:t>
            </a:r>
            <a:r>
              <a:rPr lang="en-US" altLang="zh-CN" dirty="0"/>
              <a:t>Spring Messaging</a:t>
            </a:r>
            <a:r>
              <a:rPr lang="zh-CN" altLang="en-US" dirty="0"/>
              <a:t>的企业级封装和扩展：消息分发机制</a:t>
            </a:r>
            <a:r>
              <a:rPr lang="en-US" altLang="zh-CN" dirty="0"/>
              <a:t>(</a:t>
            </a:r>
            <a:r>
              <a:rPr lang="en-US" altLang="zh-CN" dirty="0" err="1"/>
              <a:t>MessageDispatcher</a:t>
            </a:r>
            <a:r>
              <a:rPr lang="en-US" altLang="zh-CN" dirty="0"/>
              <a:t>)</a:t>
            </a:r>
            <a:r>
              <a:rPr lang="zh-CN" altLang="en-US" dirty="0"/>
              <a:t>、路由、消息处理机制（分割、聚合、过滤、分发）等</a:t>
            </a:r>
            <a:endParaRPr lang="en-US" altLang="zh-CN" dirty="0"/>
          </a:p>
          <a:p>
            <a:endParaRPr lang="en-US" altLang="zh-CN" dirty="0"/>
          </a:p>
          <a:p>
            <a:r>
              <a:rPr lang="en-US" altLang="zh-CN" dirty="0"/>
              <a:t>Kafka/RabbitMQ</a:t>
            </a:r>
            <a:r>
              <a:rPr lang="zh-CN" altLang="en-US" dirty="0"/>
              <a:t>等中间件消息统一转化成</a:t>
            </a:r>
            <a:r>
              <a:rPr lang="en-US" altLang="zh-CN" dirty="0"/>
              <a:t>Spring Message</a:t>
            </a:r>
            <a:r>
              <a:rPr lang="zh-CN" altLang="en-US" dirty="0"/>
              <a:t>，业务逻辑处理之后再转化返回给中间件</a:t>
            </a:r>
          </a:p>
        </p:txBody>
      </p:sp>
    </p:spTree>
    <p:extLst>
      <p:ext uri="{BB962C8B-B14F-4D97-AF65-F5344CB8AC3E}">
        <p14:creationId xmlns:p14="http://schemas.microsoft.com/office/powerpoint/2010/main" val="19156575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D07B536-7517-4FC6-8665-E10DF536E8DB}"/>
              </a:ext>
            </a:extLst>
          </p:cNvPr>
          <p:cNvSpPr>
            <a:spLocks noGrp="1"/>
          </p:cNvSpPr>
          <p:nvPr>
            <p:ph type="title"/>
          </p:nvPr>
        </p:nvSpPr>
        <p:spPr>
          <a:xfrm>
            <a:off x="686834" y="1153572"/>
            <a:ext cx="3200400" cy="4461163"/>
          </a:xfrm>
        </p:spPr>
        <p:txBody>
          <a:bodyPr>
            <a:normAutofit/>
          </a:bodyPr>
          <a:lstStyle/>
          <a:p>
            <a:r>
              <a:rPr lang="en-US" altLang="zh-CN" b="1" dirty="0">
                <a:solidFill>
                  <a:srgbClr val="FFFFFF"/>
                </a:solidFill>
              </a:rPr>
              <a:t>SCS</a:t>
            </a:r>
            <a:br>
              <a:rPr lang="en-US" altLang="zh-CN" b="1" dirty="0">
                <a:solidFill>
                  <a:srgbClr val="FFFFFF"/>
                </a:solidFill>
              </a:rPr>
            </a:br>
            <a:r>
              <a:rPr lang="en-US" altLang="zh-CN" b="1" dirty="0">
                <a:solidFill>
                  <a:srgbClr val="FFFFFF"/>
                </a:solidFill>
              </a:rPr>
              <a:t>Core Building Blocks</a:t>
            </a:r>
            <a:endParaRPr lang="zh-CN" altLang="en-US" b="1" dirty="0">
              <a:solidFill>
                <a:srgbClr val="FFFFFF"/>
              </a:solidFill>
            </a:endParaRPr>
          </a:p>
        </p:txBody>
      </p:sp>
      <p:sp>
        <p:nvSpPr>
          <p:cNvPr id="30" name="Arc 29">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1" name="Content Placeholder 2">
            <a:extLst>
              <a:ext uri="{FF2B5EF4-FFF2-40B4-BE49-F238E27FC236}">
                <a16:creationId xmlns:a16="http://schemas.microsoft.com/office/drawing/2014/main" id="{712D6C49-69DC-48C9-A418-44DB84C0A33E}"/>
              </a:ext>
            </a:extLst>
          </p:cNvPr>
          <p:cNvSpPr>
            <a:spLocks noGrp="1"/>
          </p:cNvSpPr>
          <p:nvPr>
            <p:ph idx="1"/>
          </p:nvPr>
        </p:nvSpPr>
        <p:spPr>
          <a:xfrm>
            <a:off x="4447308" y="591344"/>
            <a:ext cx="6906491" cy="5585619"/>
          </a:xfrm>
        </p:spPr>
        <p:txBody>
          <a:bodyPr anchor="ctr">
            <a:normAutofit/>
          </a:bodyPr>
          <a:lstStyle/>
          <a:p>
            <a:r>
              <a:rPr lang="en-US" altLang="zh-CN" b="1" dirty="0"/>
              <a:t>Destination Binders</a:t>
            </a:r>
            <a:r>
              <a:rPr lang="en-US" altLang="zh-CN" dirty="0"/>
              <a:t>: </a:t>
            </a:r>
            <a:r>
              <a:rPr lang="zh-CN" altLang="en-US" dirty="0"/>
              <a:t>消息传递系统集成的组件</a:t>
            </a:r>
            <a:endParaRPr lang="en-US" altLang="zh-CN" dirty="0"/>
          </a:p>
          <a:p>
            <a:endParaRPr lang="en-US" altLang="zh-CN" b="1" dirty="0"/>
          </a:p>
          <a:p>
            <a:r>
              <a:rPr lang="en-US" altLang="zh-CN" b="1" dirty="0"/>
              <a:t>Destination Bindings</a:t>
            </a:r>
            <a:r>
              <a:rPr lang="en-US" altLang="zh-CN" dirty="0"/>
              <a:t>:</a:t>
            </a:r>
            <a:r>
              <a:rPr lang="zh-CN" altLang="en-US" dirty="0"/>
              <a:t>消息系统和应用系统之间的桥梁，提供消息消费者和生产者 </a:t>
            </a:r>
            <a:r>
              <a:rPr lang="en-US" altLang="zh-CN" dirty="0"/>
              <a:t>(created by the Destination Binders).</a:t>
            </a:r>
          </a:p>
          <a:p>
            <a:endParaRPr lang="en-US" altLang="zh-CN" b="1" dirty="0"/>
          </a:p>
          <a:p>
            <a:r>
              <a:rPr lang="en-US" altLang="zh-CN" b="1" dirty="0"/>
              <a:t>Message</a:t>
            </a:r>
            <a:r>
              <a:rPr lang="en-US" altLang="zh-CN" dirty="0"/>
              <a:t>: </a:t>
            </a:r>
            <a:r>
              <a:rPr lang="zh-CN" altLang="en-US" dirty="0"/>
              <a:t>系统间通信的数据规范</a:t>
            </a:r>
          </a:p>
        </p:txBody>
      </p:sp>
      <p:pic>
        <p:nvPicPr>
          <p:cNvPr id="20" name="Picture 2" descr="在这里插入图片描述">
            <a:extLst>
              <a:ext uri="{FF2B5EF4-FFF2-40B4-BE49-F238E27FC236}">
                <a16:creationId xmlns:a16="http://schemas.microsoft.com/office/drawing/2014/main" id="{3C15F933-BE4E-4430-A705-161712BB13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51718" y="5315688"/>
            <a:ext cx="1548835" cy="12017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21886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Diagram&#10;&#10;Description automatically generated">
            <a:extLst>
              <a:ext uri="{FF2B5EF4-FFF2-40B4-BE49-F238E27FC236}">
                <a16:creationId xmlns:a16="http://schemas.microsoft.com/office/drawing/2014/main" id="{D1927F33-1554-423E-B23E-0009CD8AADA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98731" y="210849"/>
            <a:ext cx="7079931" cy="6436302"/>
          </a:xfrm>
        </p:spPr>
      </p:pic>
    </p:spTree>
    <p:extLst>
      <p:ext uri="{BB962C8B-B14F-4D97-AF65-F5344CB8AC3E}">
        <p14:creationId xmlns:p14="http://schemas.microsoft.com/office/powerpoint/2010/main" val="18194875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4576C52-0E06-497F-A0FB-3A34FE2836A5}"/>
              </a:ext>
            </a:extLst>
          </p:cNvPr>
          <p:cNvSpPr>
            <a:spLocks noGrp="1"/>
          </p:cNvSpPr>
          <p:nvPr>
            <p:ph type="title"/>
          </p:nvPr>
        </p:nvSpPr>
        <p:spPr>
          <a:xfrm>
            <a:off x="686834" y="1153572"/>
            <a:ext cx="3200400" cy="4461163"/>
          </a:xfrm>
        </p:spPr>
        <p:txBody>
          <a:bodyPr>
            <a:normAutofit/>
          </a:bodyPr>
          <a:lstStyle/>
          <a:p>
            <a:r>
              <a:rPr lang="en-US" altLang="zh-CN" sz="3400" b="1">
                <a:solidFill>
                  <a:srgbClr val="FFFFFF"/>
                </a:solidFill>
              </a:rPr>
              <a:t>Binder Implementations</a:t>
            </a:r>
            <a:endParaRPr lang="zh-CN" altLang="en-US" sz="3400" b="1">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21A9C40-F5D9-4EF3-AF51-7C4312708C2A}"/>
              </a:ext>
            </a:extLst>
          </p:cNvPr>
          <p:cNvSpPr>
            <a:spLocks noGrp="1"/>
          </p:cNvSpPr>
          <p:nvPr>
            <p:ph idx="1"/>
          </p:nvPr>
        </p:nvSpPr>
        <p:spPr>
          <a:xfrm>
            <a:off x="4447308" y="591344"/>
            <a:ext cx="6906491" cy="5585619"/>
          </a:xfrm>
        </p:spPr>
        <p:txBody>
          <a:bodyPr anchor="ctr">
            <a:normAutofit/>
          </a:bodyPr>
          <a:lstStyle/>
          <a:p>
            <a:r>
              <a:rPr lang="en-US" altLang="zh-CN"/>
              <a:t>RabbitMQ</a:t>
            </a:r>
          </a:p>
          <a:p>
            <a:r>
              <a:rPr lang="en-US" altLang="zh-CN"/>
              <a:t>Apache Kafka</a:t>
            </a:r>
          </a:p>
          <a:p>
            <a:r>
              <a:rPr lang="en-US" altLang="zh-CN" dirty="0"/>
              <a:t>Kafka Streams</a:t>
            </a:r>
          </a:p>
          <a:p>
            <a:r>
              <a:rPr lang="en-US" altLang="zh-CN" dirty="0"/>
              <a:t>Amazon Kinesis</a:t>
            </a:r>
          </a:p>
          <a:p>
            <a:r>
              <a:rPr lang="en-US" altLang="zh-CN" dirty="0"/>
              <a:t>Google </a:t>
            </a:r>
            <a:r>
              <a:rPr lang="en-US" altLang="zh-CN" dirty="0" err="1"/>
              <a:t>PubSub</a:t>
            </a:r>
            <a:r>
              <a:rPr lang="en-US" altLang="zh-CN" dirty="0"/>
              <a:t> </a:t>
            </a:r>
            <a:r>
              <a:rPr lang="en-US" altLang="zh-CN" i="1" dirty="0"/>
              <a:t>(partner maintained)</a:t>
            </a:r>
            <a:endParaRPr lang="en-US" altLang="zh-CN" dirty="0"/>
          </a:p>
          <a:p>
            <a:r>
              <a:rPr lang="en-US" altLang="zh-CN" dirty="0"/>
              <a:t>Solace </a:t>
            </a:r>
            <a:r>
              <a:rPr lang="en-US" altLang="zh-CN" dirty="0" err="1"/>
              <a:t>PubSub</a:t>
            </a:r>
            <a:r>
              <a:rPr lang="en-US" altLang="zh-CN" dirty="0"/>
              <a:t>+ </a:t>
            </a:r>
            <a:r>
              <a:rPr lang="en-US" altLang="zh-CN" i="1" dirty="0"/>
              <a:t>(partner maintained)</a:t>
            </a:r>
            <a:endParaRPr lang="en-US" altLang="zh-CN" dirty="0"/>
          </a:p>
          <a:p>
            <a:r>
              <a:rPr lang="en-US" altLang="zh-CN" dirty="0"/>
              <a:t>Azure Event Hubs </a:t>
            </a:r>
            <a:r>
              <a:rPr lang="en-US" altLang="zh-CN" i="1" dirty="0"/>
              <a:t>(partner maintained)</a:t>
            </a:r>
            <a:endParaRPr lang="en-US" altLang="zh-CN" dirty="0"/>
          </a:p>
          <a:p>
            <a:r>
              <a:rPr lang="en-US" altLang="zh-CN"/>
              <a:t>Apache </a:t>
            </a:r>
            <a:r>
              <a:rPr lang="en-US" altLang="zh-CN" err="1"/>
              <a:t>RocketMQ</a:t>
            </a:r>
            <a:r>
              <a:rPr lang="en-US" altLang="zh-CN"/>
              <a:t> </a:t>
            </a:r>
            <a:r>
              <a:rPr lang="en-US" altLang="zh-CN" i="1"/>
              <a:t>(partner maintained)</a:t>
            </a:r>
            <a:endParaRPr lang="en-US" altLang="zh-CN"/>
          </a:p>
          <a:p>
            <a:endParaRPr lang="zh-CN" altLang="en-US" dirty="0"/>
          </a:p>
        </p:txBody>
      </p:sp>
    </p:spTree>
    <p:extLst>
      <p:ext uri="{BB962C8B-B14F-4D97-AF65-F5344CB8AC3E}">
        <p14:creationId xmlns:p14="http://schemas.microsoft.com/office/powerpoint/2010/main" val="2462316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 screen&#10;&#10;Description automatically generated">
            <a:extLst>
              <a:ext uri="{FF2B5EF4-FFF2-40B4-BE49-F238E27FC236}">
                <a16:creationId xmlns:a16="http://schemas.microsoft.com/office/drawing/2014/main" id="{BC8F2B07-4518-40F1-A73D-E62D32A975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237944"/>
            <a:ext cx="12192000" cy="2707624"/>
          </a:xfrm>
          <a:prstGeom prst="rect">
            <a:avLst/>
          </a:prstGeom>
        </p:spPr>
      </p:pic>
      <p:sp>
        <p:nvSpPr>
          <p:cNvPr id="6" name="TextBox 5">
            <a:extLst>
              <a:ext uri="{FF2B5EF4-FFF2-40B4-BE49-F238E27FC236}">
                <a16:creationId xmlns:a16="http://schemas.microsoft.com/office/drawing/2014/main" id="{B32A475E-60FD-4EB5-9D38-9270F2C36DB7}"/>
              </a:ext>
            </a:extLst>
          </p:cNvPr>
          <p:cNvSpPr txBox="1"/>
          <p:nvPr/>
        </p:nvSpPr>
        <p:spPr>
          <a:xfrm>
            <a:off x="2404533" y="1465587"/>
            <a:ext cx="6773334" cy="646331"/>
          </a:xfrm>
          <a:prstGeom prst="rect">
            <a:avLst/>
          </a:prstGeom>
          <a:noFill/>
        </p:spPr>
        <p:txBody>
          <a:bodyPr wrap="square" rtlCol="0">
            <a:spAutoFit/>
          </a:bodyPr>
          <a:lstStyle/>
          <a:p>
            <a:r>
              <a:rPr lang="en-US" altLang="zh-CN" sz="3600" b="1" dirty="0"/>
              <a:t>KafkaMessageChannelBinder.class</a:t>
            </a:r>
            <a:endParaRPr lang="zh-CN" altLang="en-US" b="1" dirty="0"/>
          </a:p>
        </p:txBody>
      </p:sp>
    </p:spTree>
    <p:extLst>
      <p:ext uri="{BB962C8B-B14F-4D97-AF65-F5344CB8AC3E}">
        <p14:creationId xmlns:p14="http://schemas.microsoft.com/office/powerpoint/2010/main" val="41164649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C3E34A-59D9-4AAA-88C0-FE42F201A8AD}"/>
              </a:ext>
            </a:extLst>
          </p:cNvPr>
          <p:cNvSpPr>
            <a:spLocks noGrp="1"/>
          </p:cNvSpPr>
          <p:nvPr>
            <p:ph type="title"/>
          </p:nvPr>
        </p:nvSpPr>
        <p:spPr>
          <a:xfrm>
            <a:off x="686834" y="1153572"/>
            <a:ext cx="3200400" cy="4461163"/>
          </a:xfrm>
        </p:spPr>
        <p:txBody>
          <a:bodyPr>
            <a:normAutofit/>
          </a:bodyPr>
          <a:lstStyle/>
          <a:p>
            <a:r>
              <a:rPr lang="en-US" altLang="zh-CN" b="1" dirty="0">
                <a:solidFill>
                  <a:srgbClr val="FFFFFF"/>
                </a:solidFill>
              </a:rPr>
              <a:t>Quick Start</a:t>
            </a:r>
            <a:endParaRPr lang="zh-CN" altLang="en-US" b="1" dirty="0">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pic>
        <p:nvPicPr>
          <p:cNvPr id="5" name="Content Placeholder 4" descr="Text&#10;&#10;Description automatically generated">
            <a:extLst>
              <a:ext uri="{FF2B5EF4-FFF2-40B4-BE49-F238E27FC236}">
                <a16:creationId xmlns:a16="http://schemas.microsoft.com/office/drawing/2014/main" id="{1A165929-2F10-44A9-B735-A002F8BFEF1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740557" y="1943101"/>
            <a:ext cx="6568345" cy="2717936"/>
          </a:xfrm>
        </p:spPr>
      </p:pic>
    </p:spTree>
    <p:extLst>
      <p:ext uri="{BB962C8B-B14F-4D97-AF65-F5344CB8AC3E}">
        <p14:creationId xmlns:p14="http://schemas.microsoft.com/office/powerpoint/2010/main" val="1642102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D1BEB36-48A5-469F-9891-D1DC4B89A64C}"/>
              </a:ext>
            </a:extLst>
          </p:cNvPr>
          <p:cNvSpPr>
            <a:spLocks noGrp="1"/>
          </p:cNvSpPr>
          <p:nvPr>
            <p:ph type="title"/>
          </p:nvPr>
        </p:nvSpPr>
        <p:spPr>
          <a:xfrm>
            <a:off x="686834" y="1153572"/>
            <a:ext cx="3200400" cy="4461163"/>
          </a:xfrm>
        </p:spPr>
        <p:txBody>
          <a:bodyPr>
            <a:normAutofit/>
          </a:bodyPr>
          <a:lstStyle/>
          <a:p>
            <a:r>
              <a:rPr lang="en-US" altLang="zh-CN" sz="3700">
                <a:solidFill>
                  <a:srgbClr val="FFFFFF"/>
                </a:solidFill>
              </a:rPr>
              <a:t>Application.yml</a:t>
            </a:r>
            <a:endParaRPr lang="zh-CN" altLang="en-US" sz="3700">
              <a:solidFill>
                <a:srgbClr val="FFFFFF"/>
              </a:solidFill>
            </a:endParaRPr>
          </a:p>
        </p:txBody>
      </p:sp>
      <p:sp>
        <p:nvSpPr>
          <p:cNvPr id="15" name="Arc 14">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pic>
        <p:nvPicPr>
          <p:cNvPr id="10" name="Content Placeholder 4" descr="Text&#10;&#10;Description automatically generated">
            <a:extLst>
              <a:ext uri="{FF2B5EF4-FFF2-40B4-BE49-F238E27FC236}">
                <a16:creationId xmlns:a16="http://schemas.microsoft.com/office/drawing/2014/main" id="{99402832-E181-4266-9087-059E9BBD67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51058" y="767360"/>
            <a:ext cx="6458360" cy="4885475"/>
          </a:xfrm>
          <a:prstGeom prst="rect">
            <a:avLst/>
          </a:prstGeom>
        </p:spPr>
      </p:pic>
    </p:spTree>
    <p:extLst>
      <p:ext uri="{BB962C8B-B14F-4D97-AF65-F5344CB8AC3E}">
        <p14:creationId xmlns:p14="http://schemas.microsoft.com/office/powerpoint/2010/main" val="38024816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3928CA6-D28D-4107-A3AA-E0FE575043A5}"/>
              </a:ext>
            </a:extLst>
          </p:cNvPr>
          <p:cNvSpPr>
            <a:spLocks noGrp="1"/>
          </p:cNvSpPr>
          <p:nvPr>
            <p:ph type="title"/>
          </p:nvPr>
        </p:nvSpPr>
        <p:spPr>
          <a:xfrm>
            <a:off x="686834" y="1153572"/>
            <a:ext cx="3200400" cy="4461163"/>
          </a:xfrm>
        </p:spPr>
        <p:txBody>
          <a:bodyPr>
            <a:normAutofit/>
          </a:bodyPr>
          <a:lstStyle/>
          <a:p>
            <a:r>
              <a:rPr lang="en-US" altLang="zh-CN">
                <a:solidFill>
                  <a:srgbClr val="FFFFFF"/>
                </a:solidFill>
              </a:rPr>
              <a:t>Main Annotation</a:t>
            </a:r>
            <a:endParaRPr lang="zh-CN" altLang="en-US">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BC4712B7-A024-4BC9-9B4E-845A50B541E3}"/>
              </a:ext>
            </a:extLst>
          </p:cNvPr>
          <p:cNvSpPr>
            <a:spLocks noGrp="1"/>
          </p:cNvSpPr>
          <p:nvPr>
            <p:ph idx="1"/>
          </p:nvPr>
        </p:nvSpPr>
        <p:spPr>
          <a:xfrm>
            <a:off x="4447308" y="591344"/>
            <a:ext cx="6906491" cy="5585619"/>
          </a:xfrm>
        </p:spPr>
        <p:txBody>
          <a:bodyPr anchor="ctr">
            <a:normAutofit/>
          </a:bodyPr>
          <a:lstStyle/>
          <a:p>
            <a:r>
              <a:rPr lang="en-US" altLang="zh-CN" dirty="0"/>
              <a:t>@</a:t>
            </a:r>
            <a:r>
              <a:rPr lang="en-US" altLang="zh-CN" dirty="0" err="1"/>
              <a:t>EnableBinding</a:t>
            </a:r>
            <a:endParaRPr lang="en-US" altLang="zh-CN" dirty="0"/>
          </a:p>
          <a:p>
            <a:r>
              <a:rPr lang="en-US" altLang="zh-CN" dirty="0"/>
              <a:t>@Input</a:t>
            </a:r>
          </a:p>
          <a:p>
            <a:r>
              <a:rPr lang="en-US" altLang="zh-CN" dirty="0"/>
              <a:t>@Output</a:t>
            </a:r>
          </a:p>
          <a:p>
            <a:r>
              <a:rPr lang="en-US" altLang="zh-CN" dirty="0"/>
              <a:t>@</a:t>
            </a:r>
            <a:r>
              <a:rPr lang="en-US" altLang="zh-CN" dirty="0" err="1"/>
              <a:t>StreamListener</a:t>
            </a:r>
            <a:endParaRPr lang="en-US" altLang="zh-CN" dirty="0"/>
          </a:p>
          <a:p>
            <a:r>
              <a:rPr lang="en-US" altLang="zh-CN" dirty="0"/>
              <a:t>@</a:t>
            </a:r>
            <a:r>
              <a:rPr lang="en-US" altLang="zh-CN" dirty="0" err="1"/>
              <a:t>SendTo</a:t>
            </a:r>
            <a:endParaRPr lang="zh-CN" altLang="en-US" dirty="0"/>
          </a:p>
        </p:txBody>
      </p:sp>
      <p:sp>
        <p:nvSpPr>
          <p:cNvPr id="13" name="TextBox 12">
            <a:extLst>
              <a:ext uri="{FF2B5EF4-FFF2-40B4-BE49-F238E27FC236}">
                <a16:creationId xmlns:a16="http://schemas.microsoft.com/office/drawing/2014/main" id="{875CE013-CCD5-47F1-8938-2BF791CE6B5F}"/>
              </a:ext>
            </a:extLst>
          </p:cNvPr>
          <p:cNvSpPr txBox="1"/>
          <p:nvPr/>
        </p:nvSpPr>
        <p:spPr>
          <a:xfrm>
            <a:off x="6908800" y="5963483"/>
            <a:ext cx="3890654" cy="369332"/>
          </a:xfrm>
          <a:prstGeom prst="rect">
            <a:avLst/>
          </a:prstGeom>
          <a:noFill/>
        </p:spPr>
        <p:txBody>
          <a:bodyPr wrap="square" rtlCol="0">
            <a:spAutoFit/>
          </a:bodyPr>
          <a:lstStyle/>
          <a:p>
            <a:r>
              <a:rPr lang="en-US" altLang="zh-CN" dirty="0"/>
              <a:t>See the demo project for more details</a:t>
            </a:r>
            <a:endParaRPr lang="zh-CN" altLang="en-US" dirty="0"/>
          </a:p>
        </p:txBody>
      </p:sp>
    </p:spTree>
    <p:extLst>
      <p:ext uri="{BB962C8B-B14F-4D97-AF65-F5344CB8AC3E}">
        <p14:creationId xmlns:p14="http://schemas.microsoft.com/office/powerpoint/2010/main" val="3025865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8">
            <a:extLst>
              <a:ext uri="{FF2B5EF4-FFF2-40B4-BE49-F238E27FC236}">
                <a16:creationId xmlns:a16="http://schemas.microsoft.com/office/drawing/2014/main" id="{35555856-9970-4BC3-9AA9-6A917F53AF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6421721"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0">
            <a:extLst>
              <a:ext uri="{FF2B5EF4-FFF2-40B4-BE49-F238E27FC236}">
                <a16:creationId xmlns:a16="http://schemas.microsoft.com/office/drawing/2014/main" id="{7F487851-BFAF-46D8-A1ED-50CAD6E46F5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AFACA18-4F29-471F-B48A-31D8EEECD30A}"/>
              </a:ext>
            </a:extLst>
          </p:cNvPr>
          <p:cNvSpPr>
            <a:spLocks noGrp="1"/>
          </p:cNvSpPr>
          <p:nvPr>
            <p:ph type="title"/>
          </p:nvPr>
        </p:nvSpPr>
        <p:spPr>
          <a:xfrm>
            <a:off x="6590662" y="4267832"/>
            <a:ext cx="4805996" cy="1297115"/>
          </a:xfrm>
        </p:spPr>
        <p:txBody>
          <a:bodyPr vert="horz" lIns="91440" tIns="45720" rIns="91440" bIns="45720" rtlCol="0" anchor="t">
            <a:normAutofit/>
          </a:bodyPr>
          <a:lstStyle/>
          <a:p>
            <a:r>
              <a:rPr lang="en-US" altLang="zh-CN" kern="1200">
                <a:solidFill>
                  <a:srgbClr val="000000"/>
                </a:solidFill>
                <a:latin typeface="+mj-lt"/>
                <a:ea typeface="+mj-ea"/>
                <a:cs typeface="+mj-cs"/>
              </a:rPr>
              <a:t>Bye Bye</a:t>
            </a:r>
          </a:p>
        </p:txBody>
      </p:sp>
      <p:sp>
        <p:nvSpPr>
          <p:cNvPr id="17" name="Freeform 50">
            <a:extLst>
              <a:ext uri="{FF2B5EF4-FFF2-40B4-BE49-F238E27FC236}">
                <a16:creationId xmlns:a16="http://schemas.microsoft.com/office/drawing/2014/main" id="{13722DD7-BA73-4776-93A3-94491FEF72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1159"/>
            <a:ext cx="5464879" cy="6276841"/>
          </a:xfrm>
          <a:custGeom>
            <a:avLst/>
            <a:gdLst>
              <a:gd name="connsiteX0" fmla="*/ 3299930 w 5464879"/>
              <a:gd name="connsiteY0" fmla="*/ 0 h 6276841"/>
              <a:gd name="connsiteX1" fmla="*/ 5398992 w 5464879"/>
              <a:gd name="connsiteY1" fmla="*/ 753544 h 6276841"/>
              <a:gd name="connsiteX2" fmla="*/ 5464879 w 5464879"/>
              <a:gd name="connsiteY2" fmla="*/ 813426 h 6276841"/>
              <a:gd name="connsiteX3" fmla="*/ 5464879 w 5464879"/>
              <a:gd name="connsiteY3" fmla="*/ 5786434 h 6276841"/>
              <a:gd name="connsiteX4" fmla="*/ 5398992 w 5464879"/>
              <a:gd name="connsiteY4" fmla="*/ 5846317 h 6276841"/>
              <a:gd name="connsiteX5" fmla="*/ 4872873 w 5464879"/>
              <a:gd name="connsiteY5" fmla="*/ 6201577 h 6276841"/>
              <a:gd name="connsiteX6" fmla="*/ 4716632 w 5464879"/>
              <a:gd name="connsiteY6" fmla="*/ 6276841 h 6276841"/>
              <a:gd name="connsiteX7" fmla="*/ 1883227 w 5464879"/>
              <a:gd name="connsiteY7" fmla="*/ 6276841 h 6276841"/>
              <a:gd name="connsiteX8" fmla="*/ 1726987 w 5464879"/>
              <a:gd name="connsiteY8" fmla="*/ 6201577 h 6276841"/>
              <a:gd name="connsiteX9" fmla="*/ 0 w 5464879"/>
              <a:gd name="connsiteY9" fmla="*/ 3299930 h 6276841"/>
              <a:gd name="connsiteX10" fmla="*/ 3299930 w 5464879"/>
              <a:gd name="connsiteY10" fmla="*/ 0 h 6276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64879" h="6276841">
                <a:moveTo>
                  <a:pt x="3299930" y="0"/>
                </a:moveTo>
                <a:cubicBezTo>
                  <a:pt x="4097274" y="0"/>
                  <a:pt x="4828569" y="282789"/>
                  <a:pt x="5398992" y="753544"/>
                </a:cubicBezTo>
                <a:lnTo>
                  <a:pt x="5464879" y="813426"/>
                </a:lnTo>
                <a:lnTo>
                  <a:pt x="5464879" y="5786434"/>
                </a:lnTo>
                <a:lnTo>
                  <a:pt x="5398992" y="5846317"/>
                </a:lnTo>
                <a:cubicBezTo>
                  <a:pt x="5236014" y="5980818"/>
                  <a:pt x="5059904" y="6099975"/>
                  <a:pt x="4872873" y="6201577"/>
                </a:cubicBezTo>
                <a:lnTo>
                  <a:pt x="4716632" y="6276841"/>
                </a:lnTo>
                <a:lnTo>
                  <a:pt x="1883227" y="6276841"/>
                </a:lnTo>
                <a:lnTo>
                  <a:pt x="1726987" y="6201577"/>
                </a:lnTo>
                <a:cubicBezTo>
                  <a:pt x="698316" y="5642769"/>
                  <a:pt x="0" y="4552900"/>
                  <a:pt x="0" y="3299930"/>
                </a:cubicBezTo>
                <a:cubicBezTo>
                  <a:pt x="0" y="1477429"/>
                  <a:pt x="1477429" y="0"/>
                  <a:pt x="3299930" y="0"/>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bg2">
                    <a:lumMod val="75000"/>
                  </a:schemeClr>
                </a:gs>
                <a:gs pos="100000">
                  <a:schemeClr val="bg2">
                    <a:lumMod val="7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8" name="Graphic 5" descr="Winking Face with No Fill">
            <a:extLst>
              <a:ext uri="{FF2B5EF4-FFF2-40B4-BE49-F238E27FC236}">
                <a16:creationId xmlns:a16="http://schemas.microsoft.com/office/drawing/2014/main" id="{4BA87D52-DFD9-433A-B952-6F54F7011BC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40470" y="1815320"/>
            <a:ext cx="4141760" cy="4141760"/>
          </a:xfrm>
          <a:custGeom>
            <a:avLst/>
            <a:gdLst/>
            <a:ahLst/>
            <a:cxnLst/>
            <a:rect l="l" t="t" r="r" b="b"/>
            <a:pathLst>
              <a:path w="4141760" h="4377846">
                <a:moveTo>
                  <a:pt x="0" y="0"/>
                </a:moveTo>
                <a:lnTo>
                  <a:pt x="4141760" y="0"/>
                </a:lnTo>
                <a:lnTo>
                  <a:pt x="4141760" y="4377846"/>
                </a:lnTo>
                <a:lnTo>
                  <a:pt x="0" y="4377846"/>
                </a:lnTo>
                <a:close/>
              </a:path>
            </a:pathLst>
          </a:custGeom>
        </p:spPr>
      </p:pic>
    </p:spTree>
    <p:extLst>
      <p:ext uri="{BB962C8B-B14F-4D97-AF65-F5344CB8AC3E}">
        <p14:creationId xmlns:p14="http://schemas.microsoft.com/office/powerpoint/2010/main" val="422538598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319</Words>
  <Application>Microsoft Office PowerPoint</Application>
  <PresentationFormat>Widescreen</PresentationFormat>
  <Paragraphs>50</Paragraphs>
  <Slides>13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等线</vt:lpstr>
      <vt:lpstr>Arial</vt:lpstr>
      <vt:lpstr>Calibri</vt:lpstr>
      <vt:lpstr>Calibri Light</vt:lpstr>
      <vt:lpstr>Office Theme</vt:lpstr>
      <vt:lpstr>Spring Cloud Stream</vt:lpstr>
      <vt:lpstr>What is SCS</vt:lpstr>
      <vt:lpstr>Advantage</vt:lpstr>
      <vt:lpstr>原理</vt:lpstr>
      <vt:lpstr>How it Works</vt:lpstr>
      <vt:lpstr>SCS Core Building Blocks</vt:lpstr>
      <vt:lpstr>PowerPoint Presentation</vt:lpstr>
      <vt:lpstr>Binder Implementations</vt:lpstr>
      <vt:lpstr>PowerPoint Presentation</vt:lpstr>
      <vt:lpstr>Quick Start</vt:lpstr>
      <vt:lpstr>Application.yml</vt:lpstr>
      <vt:lpstr>Main Annotation</vt:lpstr>
      <vt:lpstr>Bye Bye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Spring Cloud Stream</dc:title>
  <dc:creator>Arthur Weng (CN)</dc:creator>
  <cp:lastModifiedBy>Arthur Weng (CN)</cp:lastModifiedBy>
  <cp:revision>1</cp:revision>
  <dcterms:created xsi:type="dcterms:W3CDTF">2021-01-12T01:32:17Z</dcterms:created>
  <dcterms:modified xsi:type="dcterms:W3CDTF">2021-01-12T01:32:29Z</dcterms:modified>
</cp:coreProperties>
</file>